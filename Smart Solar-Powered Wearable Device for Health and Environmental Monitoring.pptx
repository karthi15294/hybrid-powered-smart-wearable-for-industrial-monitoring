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FINAL YEAR MECHANICAL ENGINEERING PROJECT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28625" y="667941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Solar-Powered Wearable Device for Health and Environmental Monitoring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1942319"/>
            <a:ext cx="828675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 Presentation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571625" y="2857109"/>
            <a:ext cx="1285875" cy="11572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3071422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5938" y="3521478"/>
            <a:ext cx="8572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ESP32 CORE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143250" y="2857109"/>
            <a:ext cx="1285875" cy="11572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306" y="3078566"/>
            <a:ext cx="385763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57563" y="3528622"/>
            <a:ext cx="85725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HEALTH TRACKING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4714875" y="2864253"/>
            <a:ext cx="1285875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3" y="3078566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29188" y="3528622"/>
            <a:ext cx="8572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ENVIRONMENTAL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6286500" y="2864253"/>
            <a:ext cx="1285875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078566"/>
            <a:ext cx="428625" cy="3429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00813" y="3528622"/>
            <a:ext cx="8572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SOLAR ENERGY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428625" y="4593431"/>
            <a:ext cx="1885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8593931" y="4582716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075134"/>
            <a:ext cx="1585913" cy="26789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075134"/>
            <a:ext cx="1585913" cy="26789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EXISTING LIMITATIONS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14475"/>
            <a:ext cx="85725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506" y="1485900"/>
            <a:ext cx="316825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charging dependency on electrical outlets.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823052"/>
            <a:ext cx="128588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4369" y="1794477"/>
            <a:ext cx="3211116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depletion during extended outdoor activities.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131628"/>
            <a:ext cx="85725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506" y="2103053"/>
            <a:ext cx="3393281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operational runtime for mission-critical sensing.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40205"/>
            <a:ext cx="128588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4369" y="2411630"/>
            <a:ext cx="3611166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integrated environmental air quality monitoring.</a:t>
            </a:r>
            <a:endParaRPr lang="en-US" sz="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48781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50081" y="2720206"/>
            <a:ext cx="340756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Inconvenient charging in travel or emergency scenarios.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786313" y="1075134"/>
            <a:ext cx="1382316" cy="26789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9"/>
          <p:cNvSpPr/>
          <p:nvPr/>
        </p:nvSpPr>
        <p:spPr>
          <a:xfrm>
            <a:off x="4786313" y="1075134"/>
            <a:ext cx="1382316" cy="26789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PROPOSED SOLUTION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14475"/>
            <a:ext cx="114300" cy="114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07769" y="1485900"/>
            <a:ext cx="357901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Self-sustaining energy through integrated solar harvesting.</a:t>
            </a:r>
            <a:endParaRPr lang="en-US" sz="9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823052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07769" y="1794477"/>
            <a:ext cx="32718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health and air quality monitoring platform.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131628"/>
            <a:ext cx="114300" cy="1143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07769" y="2103053"/>
            <a:ext cx="3078956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Compact, wearable form factor (Wristwatch style).</a:t>
            </a:r>
            <a:endParaRPr lang="en-US" sz="9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440205"/>
            <a:ext cx="114300" cy="1143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007769" y="2411630"/>
            <a:ext cx="311467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processing using low-power ESP32.</a:t>
            </a:r>
            <a:endParaRPr lang="en-US" sz="950" dirty="0"/>
          </a:p>
        </p:txBody>
      </p:sp>
      <p:sp>
        <p:nvSpPr>
          <p:cNvPr id="26" name="Shape 14"/>
          <p:cNvSpPr/>
          <p:nvPr/>
        </p:nvSpPr>
        <p:spPr>
          <a:xfrm>
            <a:off x="4786313" y="3089672"/>
            <a:ext cx="3929063" cy="10572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15"/>
          <p:cNvSpPr/>
          <p:nvPr/>
        </p:nvSpPr>
        <p:spPr>
          <a:xfrm>
            <a:off x="4786313" y="3089672"/>
            <a:ext cx="39290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16"/>
          <p:cNvSpPr/>
          <p:nvPr/>
        </p:nvSpPr>
        <p:spPr>
          <a:xfrm>
            <a:off x="8708231" y="3089672"/>
            <a:ext cx="7144" cy="10572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17"/>
          <p:cNvSpPr/>
          <p:nvPr/>
        </p:nvSpPr>
        <p:spPr>
          <a:xfrm>
            <a:off x="4786313" y="4139803"/>
            <a:ext cx="39290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18"/>
          <p:cNvSpPr/>
          <p:nvPr/>
        </p:nvSpPr>
        <p:spPr>
          <a:xfrm>
            <a:off x="4786313" y="3089672"/>
            <a:ext cx="28575" cy="10572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19"/>
          <p:cNvSpPr/>
          <p:nvPr/>
        </p:nvSpPr>
        <p:spPr>
          <a:xfrm>
            <a:off x="4786313" y="3089672"/>
            <a:ext cx="3929063" cy="1057275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A365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"A compact, solar-powered wearable device can improve portability, sustainability, and user convenience while supporting continuous health and environmental monitoring."</a:t>
            </a:r>
            <a:endParaRPr lang="en-US" sz="1000" dirty="0"/>
          </a:p>
        </p:txBody>
      </p:sp>
      <p:sp>
        <p:nvSpPr>
          <p:cNvPr id="32" name="Text 20"/>
          <p:cNvSpPr/>
          <p:nvPr/>
        </p:nvSpPr>
        <p:spPr>
          <a:xfrm>
            <a:off x="428625" y="4593431"/>
            <a:ext cx="1885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700" dirty="0"/>
          </a:p>
        </p:txBody>
      </p:sp>
      <p:sp>
        <p:nvSpPr>
          <p:cNvPr id="33" name="Text 21"/>
          <p:cNvSpPr/>
          <p:nvPr/>
        </p:nvSpPr>
        <p:spPr>
          <a:xfrm>
            <a:off x="8593931" y="4582716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00025"/>
            <a:ext cx="8743950" cy="28217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200025" y="682228"/>
            <a:ext cx="8743950" cy="742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200025" y="682228"/>
            <a:ext cx="87439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8936831" y="682228"/>
            <a:ext cx="7144" cy="7429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200025" y="1418034"/>
            <a:ext cx="87439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200025" y="682228"/>
            <a:ext cx="28575" cy="74295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6"/>
          <p:cNvSpPr/>
          <p:nvPr/>
        </p:nvSpPr>
        <p:spPr>
          <a:xfrm>
            <a:off x="314325" y="796528"/>
            <a:ext cx="85153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PRIMARY GOAL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14325" y="975122"/>
            <a:ext cx="85153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Design and develop a compact smart wearable powered by solar energy capable of monitoring both human health and environmental conditions.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0025" y="1582341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1463" y="1910953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71500" y="1916311"/>
            <a:ext cx="24824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ESP32 as the primary system controller.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14863" y="1582341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6300" y="1910953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86338" y="1916311"/>
            <a:ext cx="30218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heart rate monitoring using specialized sensors.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0025" y="2464594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1463" y="2793206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71500" y="2798564"/>
            <a:ext cx="27682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ambient air quality using the MQ135 gas sensor.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14863" y="2464594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86300" y="2793206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986338" y="2798564"/>
            <a:ext cx="30682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solar energy harvesting for autonomous charging.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00025" y="3346847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1463" y="3675459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71500" y="3680817"/>
            <a:ext cx="29932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for low-power operation in a wearable form factor.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614863" y="3346847"/>
            <a:ext cx="4329113" cy="79652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6300" y="3675459"/>
            <a:ext cx="200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986338" y="3680817"/>
            <a:ext cx="31825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compact and ergonomic wristwatch-style enclosure.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00025" y="4404122"/>
            <a:ext cx="9644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Outcome: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235869" y="4400550"/>
            <a:ext cx="53470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lightweight, intelligent, eco-friendly wearable capable of autonomous charging and real-time monitoring.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00025" y="4832747"/>
            <a:ext cx="17466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8829675" y="4822031"/>
            <a:ext cx="1143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0025"/>
            <a:ext cx="8743950" cy="2614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00025" y="447154"/>
            <a:ext cx="8743950" cy="14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2"/>
          <p:cNvSpPr/>
          <p:nvPr/>
        </p:nvSpPr>
        <p:spPr>
          <a:xfrm>
            <a:off x="200025" y="200025"/>
            <a:ext cx="8743950" cy="261417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Components Used and Justification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03597" y="536451"/>
            <a:ext cx="1747317" cy="271463"/>
          </a:xfrm>
          <a:prstGeom prst="rect">
            <a:avLst/>
          </a:prstGeom>
          <a:solidFill>
            <a:srgbClr val="1A365D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3597" y="536451"/>
            <a:ext cx="1747317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COMPONENT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1950913" y="536451"/>
            <a:ext cx="2184202" cy="271463"/>
          </a:xfrm>
          <a:prstGeom prst="rect">
            <a:avLst/>
          </a:prstGeom>
          <a:solidFill>
            <a:srgbClr val="1A365D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50913" y="536451"/>
            <a:ext cx="2184202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PURPOSE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135115" y="536451"/>
            <a:ext cx="4805288" cy="271463"/>
          </a:xfrm>
          <a:prstGeom prst="rect">
            <a:avLst/>
          </a:prstGeom>
          <a:solidFill>
            <a:srgbClr val="1A365D"/>
          </a:solidFill>
          <a:ln w="9144">
            <a:solidFill>
              <a:srgbClr val="1A36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5115" y="536451"/>
            <a:ext cx="4805288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JUSTIFICATION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03597" y="800770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ESP32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50913" y="800770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Microcontroller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135115" y="800770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processing power with integrated Wi-Fi/Bluetooth and low power consumption modes.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3597" y="1042206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MQ135 Sensor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950913" y="1042206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 Quality Monitoring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135115" y="1042206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harmful gases (CO2, Ammonia, Smoke) to provide environmental safety alerts.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03597" y="1283643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Heart Rate Sensor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950913" y="1283643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Monitoring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135115" y="1283643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continuous physiological tracking for user wellness during daily activities.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03597" y="1525079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Mini Solar Panel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950913" y="1525079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Renewable Energy Source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135115" y="1525079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Harvests solar energy during outdoor use to extend battery life and sustainability.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03597" y="1766515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Li-ion Battery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950913" y="1766515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Storage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135115" y="1766515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harvested energy for continuous operation when sunlight is unavailable.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03597" y="2007952"/>
            <a:ext cx="1747317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Enclosure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950913" y="2007952"/>
            <a:ext cx="2184202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 Housing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135115" y="2007952"/>
            <a:ext cx="4805288" cy="24143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durability, user comfort, and protection for internal electronic components.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00025" y="4389165"/>
            <a:ext cx="8743950" cy="25427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200025" y="4389165"/>
            <a:ext cx="28575" cy="2542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29"/>
          <p:cNvSpPr/>
          <p:nvPr/>
        </p:nvSpPr>
        <p:spPr>
          <a:xfrm>
            <a:off x="200025" y="4389165"/>
            <a:ext cx="8743950" cy="25427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"Each component has been selected considering compact size, low power consumption, ease of integration, and suitability for wearable applications."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00025" y="4729163"/>
            <a:ext cx="8743950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00025" y="4729163"/>
            <a:ext cx="87439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2"/>
          <p:cNvSpPr/>
          <p:nvPr/>
        </p:nvSpPr>
        <p:spPr>
          <a:xfrm>
            <a:off x="200025" y="4827389"/>
            <a:ext cx="17466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829675" y="4822031"/>
            <a:ext cx="1143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142875"/>
            <a:ext cx="1607344" cy="2821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00025" y="410766"/>
            <a:ext cx="1607344" cy="14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2"/>
          <p:cNvSpPr/>
          <p:nvPr/>
        </p:nvSpPr>
        <p:spPr>
          <a:xfrm>
            <a:off x="200025" y="142875"/>
            <a:ext cx="1607344" cy="28217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Principle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850481" y="582216"/>
            <a:ext cx="1443038" cy="250031"/>
          </a:xfrm>
          <a:prstGeom prst="rect">
            <a:avLst/>
          </a:prstGeom>
          <a:solidFill>
            <a:srgbClr val="1A365D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50481" y="582216"/>
            <a:ext cx="1443038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SOLAR ENERGY HARVESTING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4564856" y="903684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Shape 6"/>
          <p:cNvSpPr/>
          <p:nvPr/>
        </p:nvSpPr>
        <p:spPr>
          <a:xfrm>
            <a:off x="3857625" y="1103709"/>
            <a:ext cx="1428750" cy="2143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57625" y="1103709"/>
            <a:ext cx="1428750" cy="21431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MINI SOLAR PANEL (OUTDOOR)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4564856" y="1389459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Shape 9"/>
          <p:cNvSpPr/>
          <p:nvPr/>
        </p:nvSpPr>
        <p:spPr>
          <a:xfrm>
            <a:off x="3857625" y="1589484"/>
            <a:ext cx="1428750" cy="2143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7625" y="1589484"/>
            <a:ext cx="1428750" cy="21431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BATTERY CHARGING CIRCUIT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564856" y="1875234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Shape 12"/>
          <p:cNvSpPr/>
          <p:nvPr/>
        </p:nvSpPr>
        <p:spPr>
          <a:xfrm>
            <a:off x="3857625" y="2075259"/>
            <a:ext cx="1428750" cy="3286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7625" y="2075259"/>
            <a:ext cx="1428750" cy="32861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RECHARGEABLE LI-ION BATTERY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564856" y="2475309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Shape 15"/>
          <p:cNvSpPr/>
          <p:nvPr/>
        </p:nvSpPr>
        <p:spPr>
          <a:xfrm>
            <a:off x="3857625" y="2675334"/>
            <a:ext cx="1428750" cy="264319"/>
          </a:xfrm>
          <a:prstGeom prst="rect">
            <a:avLst/>
          </a:prstGeom>
          <a:solidFill>
            <a:srgbClr val="F8FAFC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57625" y="2675334"/>
            <a:ext cx="142875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ESP32 MAIN CONTROLLER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564856" y="2996803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Shape 18"/>
          <p:cNvSpPr/>
          <p:nvPr/>
        </p:nvSpPr>
        <p:spPr>
          <a:xfrm>
            <a:off x="3100388" y="3168253"/>
            <a:ext cx="1428750" cy="2143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00388" y="3168253"/>
            <a:ext cx="1428750" cy="21431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HEART RATE SENSOR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4614863" y="3168253"/>
            <a:ext cx="1428750" cy="2143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4863" y="3168253"/>
            <a:ext cx="1428750" cy="21431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MQ135 GAS SENSOR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4564856" y="3425428"/>
            <a:ext cx="14288" cy="1143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Shape 23"/>
          <p:cNvSpPr/>
          <p:nvPr/>
        </p:nvSpPr>
        <p:spPr>
          <a:xfrm>
            <a:off x="3821906" y="3625453"/>
            <a:ext cx="1500188" cy="250031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21906" y="3625453"/>
            <a:ext cx="1500188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 PROCESSING &amp; OUTPUT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200025" y="4180545"/>
            <a:ext cx="8743950" cy="53433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4285524"/>
            <a:ext cx="142875" cy="10001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0063" y="4280557"/>
            <a:ext cx="248602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energy is harvested and stored autonomously.</a:t>
            </a:r>
            <a:endParaRPr lang="en-US" sz="7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94" y="4285524"/>
            <a:ext cx="142875" cy="10001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50606" y="4280557"/>
            <a:ext cx="267176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processes physiological and environmental data.</a:t>
            </a:r>
            <a:endParaRPr lang="en-US" sz="7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4524115"/>
            <a:ext cx="142875" cy="10001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0063" y="4519147"/>
            <a:ext cx="2346722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air quality and heart rate.</a:t>
            </a:r>
            <a:endParaRPr lang="en-US" sz="7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94" y="4524115"/>
            <a:ext cx="142875" cy="10001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50606" y="4519147"/>
            <a:ext cx="252531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continuous, energy-efficient operation.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200025" y="4800600"/>
            <a:ext cx="87439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200025" y="4800600"/>
            <a:ext cx="87439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2"/>
          <p:cNvSpPr/>
          <p:nvPr/>
        </p:nvSpPr>
        <p:spPr>
          <a:xfrm>
            <a:off x="200025" y="4884539"/>
            <a:ext cx="17466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650" dirty="0"/>
          </a:p>
        </p:txBody>
      </p:sp>
      <p:sp>
        <p:nvSpPr>
          <p:cNvPr id="40" name="Text 33"/>
          <p:cNvSpPr/>
          <p:nvPr/>
        </p:nvSpPr>
        <p:spPr>
          <a:xfrm>
            <a:off x="8829675" y="4879181"/>
            <a:ext cx="1143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075134"/>
            <a:ext cx="3929063" cy="23931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1457325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demonstrates the feasibility of </a:t>
            </a:r>
            <a:r>
              <a:rPr lang="en-US" sz="9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integrating renewable energy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wearable electronics for 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health and environmental monitoring.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2217353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combines a </a:t>
            </a:r>
            <a:r>
              <a:rPr lang="en-US" sz="900" b="1" dirty="0">
                <a:solidFill>
                  <a:srgbClr val="1A365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compact design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low power 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consumption, solar charging capability, and real-time sensing 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a single portable wearable platform suitable for outdoor and </a:t>
            </a: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applications.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86313" y="1075134"/>
            <a:ext cx="3929063" cy="23931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86313" y="1457325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69" y="1555552"/>
            <a:ext cx="75009" cy="100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54203" y="1535906"/>
            <a:ext cx="8465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Integration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804422" y="1457325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578" y="1548408"/>
            <a:ext cx="125016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22319" y="1528763"/>
            <a:ext cx="732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OLED Display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786313" y="1846659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944886"/>
            <a:ext cx="75009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54203" y="1925241"/>
            <a:ext cx="9322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Connectivity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6804422" y="1846659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578" y="1937742"/>
            <a:ext cx="125016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22319" y="1918097"/>
            <a:ext cx="7822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Monitoring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786313" y="2235994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979194" y="2314575"/>
            <a:ext cx="8751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SOS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6804422" y="2235994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578" y="2327077"/>
            <a:ext cx="75009" cy="10001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72313" y="2307431"/>
            <a:ext cx="7750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SpO2 Sensing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4786313" y="2625328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723555"/>
            <a:ext cx="100013" cy="1000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79206" y="2703909"/>
            <a:ext cx="10679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Health Prediction</a:t>
            </a:r>
            <a:endParaRPr lang="en-US" sz="850" dirty="0"/>
          </a:p>
        </p:txBody>
      </p:sp>
      <p:sp>
        <p:nvSpPr>
          <p:cNvPr id="28" name="Shape 19"/>
          <p:cNvSpPr/>
          <p:nvPr/>
        </p:nvSpPr>
        <p:spPr>
          <a:xfrm>
            <a:off x="6804422" y="2625328"/>
            <a:ext cx="1910953" cy="2964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1578" y="2716411"/>
            <a:ext cx="114300" cy="10001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11603" y="2696766"/>
            <a:ext cx="7929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BMS</a:t>
            </a:r>
            <a:endParaRPr lang="en-US" sz="850" dirty="0"/>
          </a:p>
        </p:txBody>
      </p:sp>
      <p:sp>
        <p:nvSpPr>
          <p:cNvPr id="31" name="Text 21"/>
          <p:cNvSpPr/>
          <p:nvPr/>
        </p:nvSpPr>
        <p:spPr>
          <a:xfrm>
            <a:off x="428625" y="3807619"/>
            <a:ext cx="8286750" cy="62507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2" kern="0" dirty="0">
                <a:solidFill>
                  <a:srgbClr val="1A365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"TOWARDS SUSTAINABLE AND INTELLIGENT WEARABLE TECHNOLOGY"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28625" y="4593431"/>
            <a:ext cx="18859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Department of Mechanical Engineering</a:t>
            </a:r>
            <a:endParaRPr lang="en-US" sz="700" dirty="0"/>
          </a:p>
        </p:txBody>
      </p:sp>
      <p:sp>
        <p:nvSpPr>
          <p:cNvPr id="33" name="Text 23"/>
          <p:cNvSpPr/>
          <p:nvPr/>
        </p:nvSpPr>
        <p:spPr>
          <a:xfrm>
            <a:off x="8593931" y="4582716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2026-10-01T06:19:31Z</dcterms:created>
  <dcterms:modified xsi:type="dcterms:W3CDTF">2026-10-01T06:19:31Z</dcterms:modified>
</cp:coreProperties>
</file>